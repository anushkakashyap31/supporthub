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BABFE4-C7C5-41E5-9223-182BD34B2436}" v="25" dt="2026-04-09T11:03:52.5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eet osari" userId="88e7cbeab5dd6d04" providerId="LiveId" clId="{B508041A-1E64-4DA9-AD89-3C00A99B722F}"/>
    <pc:docChg chg="undo redo custSel addSld delSld modSld">
      <pc:chgData name="Ranjeet osari" userId="88e7cbeab5dd6d04" providerId="LiveId" clId="{B508041A-1E64-4DA9-AD89-3C00A99B722F}" dt="2026-04-09T11:05:36.064" v="751" actId="20577"/>
      <pc:docMkLst>
        <pc:docMk/>
      </pc:docMkLst>
      <pc:sldChg chg="addSp delSp modSp mod">
        <pc:chgData name="Ranjeet osari" userId="88e7cbeab5dd6d04" providerId="LiveId" clId="{B508041A-1E64-4DA9-AD89-3C00A99B722F}" dt="2026-04-09T11:03:26.966" v="691" actId="27636"/>
        <pc:sldMkLst>
          <pc:docMk/>
          <pc:sldMk cId="0" sldId="257"/>
        </pc:sldMkLst>
        <pc:spChg chg="add del mod">
          <ac:chgData name="Ranjeet osari" userId="88e7cbeab5dd6d04" providerId="LiveId" clId="{B508041A-1E64-4DA9-AD89-3C00A99B722F}" dt="2026-04-09T09:37:45.909" v="581" actId="478"/>
          <ac:spMkLst>
            <pc:docMk/>
            <pc:sldMk cId="0" sldId="257"/>
            <ac:spMk id="2" creationId="{898073FC-3325-1822-D976-408FB5F52E16}"/>
          </ac:spMkLst>
        </pc:spChg>
        <pc:spChg chg="add del mod">
          <ac:chgData name="Ranjeet osari" userId="88e7cbeab5dd6d04" providerId="LiveId" clId="{B508041A-1E64-4DA9-AD89-3C00A99B722F}" dt="2026-04-09T09:37:56.245" v="586" actId="478"/>
          <ac:spMkLst>
            <pc:docMk/>
            <pc:sldMk cId="0" sldId="257"/>
            <ac:spMk id="4" creationId="{B29C8A3E-FB8D-4CFB-4E4E-D4A7AF5567A3}"/>
          </ac:spMkLst>
        </pc:spChg>
        <pc:spChg chg="del mod">
          <ac:chgData name="Ranjeet osari" userId="88e7cbeab5dd6d04" providerId="LiveId" clId="{B508041A-1E64-4DA9-AD89-3C00A99B722F}" dt="2026-04-09T09:37:42.567" v="580" actId="478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Ranjeet osari" userId="88e7cbeab5dd6d04" providerId="LiveId" clId="{B508041A-1E64-4DA9-AD89-3C00A99B722F}" dt="2026-04-09T11:03:26.966" v="691" actId="27636"/>
          <ac:spMkLst>
            <pc:docMk/>
            <pc:sldMk cId="0" sldId="257"/>
            <ac:spMk id="129" creationId="{00000000-0000-0000-0000-000000000000}"/>
          </ac:spMkLst>
        </pc:spChg>
      </pc:sldChg>
      <pc:sldChg chg="del">
        <pc:chgData name="Ranjeet osari" userId="88e7cbeab5dd6d04" providerId="LiveId" clId="{B508041A-1E64-4DA9-AD89-3C00A99B722F}" dt="2026-04-09T09:31:09.339" v="499" actId="47"/>
        <pc:sldMkLst>
          <pc:docMk/>
          <pc:sldMk cId="3369056106" sldId="258"/>
        </pc:sldMkLst>
      </pc:sldChg>
      <pc:sldChg chg="del">
        <pc:chgData name="Ranjeet osari" userId="88e7cbeab5dd6d04" providerId="LiveId" clId="{B508041A-1E64-4DA9-AD89-3C00A99B722F}" dt="2026-04-09T09:31:10.839" v="500" actId="47"/>
        <pc:sldMkLst>
          <pc:docMk/>
          <pc:sldMk cId="761777111" sldId="259"/>
        </pc:sldMkLst>
      </pc:sldChg>
      <pc:sldChg chg="del">
        <pc:chgData name="Ranjeet osari" userId="88e7cbeab5dd6d04" providerId="LiveId" clId="{B508041A-1E64-4DA9-AD89-3C00A99B722F}" dt="2026-04-09T09:31:12.065" v="501" actId="47"/>
        <pc:sldMkLst>
          <pc:docMk/>
          <pc:sldMk cId="1229963626" sldId="260"/>
        </pc:sldMkLst>
      </pc:sldChg>
      <pc:sldChg chg="del">
        <pc:chgData name="Ranjeet osari" userId="88e7cbeab5dd6d04" providerId="LiveId" clId="{B508041A-1E64-4DA9-AD89-3C00A99B722F}" dt="2026-04-09T09:31:13.090" v="502" actId="47"/>
        <pc:sldMkLst>
          <pc:docMk/>
          <pc:sldMk cId="763801687" sldId="261"/>
        </pc:sldMkLst>
      </pc:sldChg>
      <pc:sldChg chg="del">
        <pc:chgData name="Ranjeet osari" userId="88e7cbeab5dd6d04" providerId="LiveId" clId="{B508041A-1E64-4DA9-AD89-3C00A99B722F}" dt="2026-04-09T09:31:14.987" v="503" actId="47"/>
        <pc:sldMkLst>
          <pc:docMk/>
          <pc:sldMk cId="2024087809" sldId="262"/>
        </pc:sldMkLst>
      </pc:sldChg>
      <pc:sldChg chg="del">
        <pc:chgData name="Ranjeet osari" userId="88e7cbeab5dd6d04" providerId="LiveId" clId="{B508041A-1E64-4DA9-AD89-3C00A99B722F}" dt="2026-04-09T09:31:16.014" v="504" actId="47"/>
        <pc:sldMkLst>
          <pc:docMk/>
          <pc:sldMk cId="1951412092" sldId="263"/>
        </pc:sldMkLst>
      </pc:sldChg>
      <pc:sldChg chg="modSp mod">
        <pc:chgData name="Ranjeet osari" userId="88e7cbeab5dd6d04" providerId="LiveId" clId="{B508041A-1E64-4DA9-AD89-3C00A99B722F}" dt="2026-04-09T11:04:02.095" v="694" actId="2711"/>
        <pc:sldMkLst>
          <pc:docMk/>
          <pc:sldMk cId="3281283472" sldId="264"/>
        </pc:sldMkLst>
        <pc:spChg chg="mod">
          <ac:chgData name="Ranjeet osari" userId="88e7cbeab5dd6d04" providerId="LiveId" clId="{B508041A-1E64-4DA9-AD89-3C00A99B722F}" dt="2026-04-09T11:03:55.173" v="693" actId="2711"/>
          <ac:spMkLst>
            <pc:docMk/>
            <pc:sldMk cId="3281283472" sldId="264"/>
            <ac:spMk id="169" creationId="{00000000-0000-0000-0000-000000000000}"/>
          </ac:spMkLst>
        </pc:spChg>
        <pc:spChg chg="mod">
          <ac:chgData name="Ranjeet osari" userId="88e7cbeab5dd6d04" providerId="LiveId" clId="{B508041A-1E64-4DA9-AD89-3C00A99B722F}" dt="2026-04-09T11:04:02.095" v="694" actId="2711"/>
          <ac:spMkLst>
            <pc:docMk/>
            <pc:sldMk cId="3281283472" sldId="264"/>
            <ac:spMk id="170" creationId="{00000000-0000-0000-0000-000000000000}"/>
          </ac:spMkLst>
        </pc:spChg>
      </pc:sldChg>
      <pc:sldChg chg="modSp mod">
        <pc:chgData name="Ranjeet osari" userId="88e7cbeab5dd6d04" providerId="LiveId" clId="{B508041A-1E64-4DA9-AD89-3C00A99B722F}" dt="2026-04-09T09:31:34.106" v="508" actId="6549"/>
        <pc:sldMkLst>
          <pc:docMk/>
          <pc:sldMk cId="0" sldId="265"/>
        </pc:sldMkLst>
        <pc:spChg chg="mod">
          <ac:chgData name="Ranjeet osari" userId="88e7cbeab5dd6d04" providerId="LiveId" clId="{B508041A-1E64-4DA9-AD89-3C00A99B722F}" dt="2026-04-09T09:31:34.106" v="508" actId="6549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new mod">
        <pc:chgData name="Ranjeet osari" userId="88e7cbeab5dd6d04" providerId="LiveId" clId="{B508041A-1E64-4DA9-AD89-3C00A99B722F}" dt="2026-04-09T11:05:36.064" v="751" actId="20577"/>
        <pc:sldMkLst>
          <pc:docMk/>
          <pc:sldMk cId="2591858060" sldId="266"/>
        </pc:sldMkLst>
        <pc:spChg chg="mod">
          <ac:chgData name="Ranjeet osari" userId="88e7cbeab5dd6d04" providerId="LiveId" clId="{B508041A-1E64-4DA9-AD89-3C00A99B722F}" dt="2026-04-09T09:30:58.116" v="498" actId="122"/>
          <ac:spMkLst>
            <pc:docMk/>
            <pc:sldMk cId="2591858060" sldId="266"/>
            <ac:spMk id="2" creationId="{07F9B95E-28FD-0F8F-BB8A-351236B28EBD}"/>
          </ac:spMkLst>
        </pc:spChg>
        <pc:spChg chg="mod">
          <ac:chgData name="Ranjeet osari" userId="88e7cbeab5dd6d04" providerId="LiveId" clId="{B508041A-1E64-4DA9-AD89-3C00A99B722F}" dt="2026-04-09T11:05:36.064" v="751" actId="20577"/>
          <ac:spMkLst>
            <pc:docMk/>
            <pc:sldMk cId="2591858060" sldId="266"/>
            <ac:spMk id="3" creationId="{5AF70F0F-FDC0-6971-DF70-21310133FF80}"/>
          </ac:spMkLst>
        </pc:spChg>
        <pc:graphicFrameChg chg="add del mod modGraphic">
          <ac:chgData name="Ranjeet osari" userId="88e7cbeab5dd6d04" providerId="LiveId" clId="{B508041A-1E64-4DA9-AD89-3C00A99B722F}" dt="2026-04-09T10:58:58.006" v="626" actId="14100"/>
          <ac:graphicFrameMkLst>
            <pc:docMk/>
            <pc:sldMk cId="2591858060" sldId="266"/>
            <ac:graphicFrameMk id="5" creationId="{AA0187EA-C1AC-5686-ABF3-F40C4B58E7CE}"/>
          </ac:graphicFrameMkLst>
        </pc:graphicFrameChg>
      </pc:sldChg>
      <pc:sldMasterChg chg="delSldLayout">
        <pc:chgData name="Ranjeet osari" userId="88e7cbeab5dd6d04" providerId="LiveId" clId="{B508041A-1E64-4DA9-AD89-3C00A99B722F}" dt="2026-04-09T09:31:12.065" v="501" actId="47"/>
        <pc:sldMasterMkLst>
          <pc:docMk/>
          <pc:sldMasterMk cId="0" sldId="2147483660"/>
        </pc:sldMasterMkLst>
        <pc:sldLayoutChg chg="del">
          <pc:chgData name="Ranjeet osari" userId="88e7cbeab5dd6d04" providerId="LiveId" clId="{B508041A-1E64-4DA9-AD89-3C00A99B722F}" dt="2026-04-09T09:31:12.065" v="501" actId="47"/>
          <pc:sldLayoutMkLst>
            <pc:docMk/>
            <pc:sldMasterMk cId="0" sldId="2147483660"/>
            <pc:sldLayoutMk cId="2516940779" sldId="214748367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E26DE-5398-4BF2-A51B-F8F12F32CB2D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20C6F-45BA-4372-8E98-D1D8DB14692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08660" y="2836506"/>
            <a:ext cx="7199034" cy="1942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08660" y="5108704"/>
            <a:ext cx="6858000" cy="60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708661" y="1041400"/>
            <a:ext cx="2363444" cy="686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660" y="6334744"/>
            <a:ext cx="1293989" cy="36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8" name="Google Shape;28;p3"/>
          <p:cNvPicPr preferRelativeResize="0"/>
          <p:nvPr/>
        </p:nvPicPr>
        <p:blipFill rotWithShape="1">
          <a:blip r:embed="rId5">
            <a:alphaModFix amt="20000"/>
          </a:blip>
          <a:srcRect t="911" r="25322" b="910"/>
          <a:stretch/>
        </p:blipFill>
        <p:spPr>
          <a:xfrm>
            <a:off x="1" y="0"/>
            <a:ext cx="912300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0" y="0"/>
            <a:ext cx="259773" cy="42197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0" y="4219720"/>
            <a:ext cx="259773" cy="26382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685800" y="6280030"/>
            <a:ext cx="139748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  <a:latin typeface="Zilla Slab"/>
                <a:ea typeface="Zilla Slab"/>
                <a:cs typeface="Zilla Slab"/>
                <a:sym typeface="Zilla Slab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  <a:latin typeface="Zilla Slab"/>
                <a:ea typeface="Zilla Slab"/>
                <a:cs typeface="Zilla Slab"/>
                <a:sym typeface="Zilla Slab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8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3" name="Google Shape;7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/>
          <p:nvPr/>
        </p:nvSpPr>
        <p:spPr>
          <a:xfrm>
            <a:off x="3807619" y="885826"/>
            <a:ext cx="4706540" cy="49831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0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549378" cy="47371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629841" y="1578718"/>
            <a:ext cx="2949178" cy="4290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2" name="Google Shape;8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0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1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2"/>
          <p:cNvPicPr preferRelativeResize="0"/>
          <p:nvPr/>
        </p:nvPicPr>
        <p:blipFill rotWithShape="1">
          <a:blip r:embed="rId2" cstate="print">
            <a:alphaModFix/>
          </a:blip>
          <a:srcRect/>
          <a:stretch/>
        </p:blipFill>
        <p:spPr>
          <a:xfrm>
            <a:off x="8817102" y="1"/>
            <a:ext cx="326899" cy="43281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51" y="6356350"/>
            <a:ext cx="1293989" cy="36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8515350" y="5986786"/>
            <a:ext cx="404603" cy="61723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>
            <a:spLocks noGrp="1"/>
          </p:cNvSpPr>
          <p:nvPr>
            <p:ph type="sldNum" idx="12"/>
          </p:nvPr>
        </p:nvSpPr>
        <p:spPr>
          <a:xfrm>
            <a:off x="8718403" y="39526"/>
            <a:ext cx="4046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9272" y="3032254"/>
            <a:ext cx="256526" cy="376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334" y="3926565"/>
            <a:ext cx="230400" cy="3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82" y="4758612"/>
            <a:ext cx="303907" cy="405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2334" y="5676372"/>
            <a:ext cx="2379641" cy="37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08661" y="1041399"/>
            <a:ext cx="3570428" cy="10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1221580" y="3921043"/>
            <a:ext cx="6345080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0731 3111500, 0731 3111501 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221581" y="4797554"/>
            <a:ext cx="6305550" cy="40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www.medicaps.ac.in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1221580" y="3030245"/>
            <a:ext cx="6345080" cy="36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A.B. Road, Pigdamber, Rau, Indore – 453331 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itle, Text, and 2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3"/>
          </p:nvPr>
        </p:nvSpPr>
        <p:spPr>
          <a:xfrm>
            <a:off x="4648200" y="41148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256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2 Content" type="objAndTwoObj">
  <p:cSld name="Title, Content, and 2 Conte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3"/>
          </p:nvPr>
        </p:nvSpPr>
        <p:spPr>
          <a:xfrm>
            <a:off x="4648200" y="41148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i="1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  <a:defRPr sz="1200" b="0" i="1" u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>
            <a:spLocks noGrp="1"/>
          </p:cNvSpPr>
          <p:nvPr>
            <p:ph type="subTitle" idx="1"/>
          </p:nvPr>
        </p:nvSpPr>
        <p:spPr>
          <a:xfrm>
            <a:off x="899592" y="1628800"/>
            <a:ext cx="7200800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2000" dirty="0">
              <a:latin typeface="+mn-l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600" dirty="0">
                <a:latin typeface="+mn-lt"/>
              </a:rPr>
              <a:t>&lt;TITLE OF THE PROJECT&gt;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2000" dirty="0">
              <a:latin typeface="+mn-l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2000" dirty="0">
              <a:latin typeface="+mn-l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1900" dirty="0">
                <a:latin typeface="+mn-lt"/>
              </a:rPr>
              <a:t>A Project-II Report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1900" dirty="0">
                <a:latin typeface="+mn-lt"/>
              </a:rPr>
              <a:t>Submitted in partial fulfillment of requirement of the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1900" dirty="0">
                <a:latin typeface="+mn-lt"/>
              </a:rPr>
              <a:t>Degree of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BACHELOR OF TECHNOLOGY in COMPUTER SCIENCE &amp; ENGINEERING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BY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300" dirty="0">
                <a:latin typeface="+mn-lt"/>
              </a:rPr>
              <a:t>&lt;Name of the Student(s)&gt;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&lt;University Roll No(s) of the Student(s)&gt;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2000" dirty="0">
              <a:latin typeface="+mn-l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Under the Guidance of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300" dirty="0">
                <a:latin typeface="+mn-lt"/>
              </a:rPr>
              <a:t>Prof. Ranjeet Osari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2000" dirty="0">
              <a:latin typeface="+mn-l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Department of Computer Science &amp; Engineering  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Faculty of Engineering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2000" dirty="0">
              <a:latin typeface="+mn-l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MEDICAPS UNIVERSITY, INDORE- 453331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2000" dirty="0">
              <a:latin typeface="+mn-lt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000" dirty="0">
                <a:latin typeface="+mn-lt"/>
              </a:rPr>
              <a:t>JAN-JUNE 2026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 lang="en-US" sz="180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B95E-28FD-0F8F-BB8A-351236B2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Metropolis (Body)"/>
              </a:rPr>
              <a:t>Table of Content</a:t>
            </a:r>
            <a:endParaRPr lang="en-IN" dirty="0">
              <a:latin typeface="Metropolis (Body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70F0F-FDC0-6971-DF70-21310133F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84784"/>
            <a:ext cx="7886700" cy="4692179"/>
          </a:xfrm>
        </p:spPr>
        <p:txBody>
          <a:bodyPr/>
          <a:lstStyle/>
          <a:p>
            <a:r>
              <a:rPr lang="en-US" dirty="0">
                <a:latin typeface="Metropolis (Body)"/>
              </a:rPr>
              <a:t>Introduction</a:t>
            </a:r>
          </a:p>
          <a:p>
            <a:r>
              <a:rPr lang="en-US" dirty="0">
                <a:latin typeface="Metropolis (Body)"/>
              </a:rPr>
              <a:t>Background </a:t>
            </a:r>
          </a:p>
          <a:p>
            <a:r>
              <a:rPr lang="en-US" dirty="0">
                <a:latin typeface="Metropolis (Body)"/>
              </a:rPr>
              <a:t>Problem Statement</a:t>
            </a:r>
          </a:p>
          <a:p>
            <a:r>
              <a:rPr lang="en-IN" dirty="0">
                <a:latin typeface="Metropolis (Body)"/>
              </a:rPr>
              <a:t>Methodology </a:t>
            </a:r>
          </a:p>
          <a:p>
            <a:r>
              <a:rPr lang="en-IN" dirty="0">
                <a:latin typeface="Metropolis (Body)"/>
              </a:rPr>
              <a:t>Project Modules</a:t>
            </a:r>
          </a:p>
          <a:p>
            <a:r>
              <a:rPr lang="en-IN" dirty="0">
                <a:latin typeface="Metropolis (Body)"/>
              </a:rPr>
              <a:t>Result Analysis</a:t>
            </a:r>
          </a:p>
          <a:p>
            <a:r>
              <a:rPr lang="en-IN" dirty="0">
                <a:latin typeface="Metropolis (Body)"/>
              </a:rPr>
              <a:t>Conclusion </a:t>
            </a:r>
          </a:p>
          <a:p>
            <a:r>
              <a:rPr lang="en-IN" dirty="0">
                <a:latin typeface="Metropolis (Body)"/>
              </a:rPr>
              <a:t>Certifiactes and GitHub Link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71D4B-1AE0-45F1-49D3-A124FEE924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5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1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200"/>
                <a:buFont typeface="Times New Roman"/>
                <a:buNone/>
              </a:pPr>
              <a:t>3</a:t>
            </a:fld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  <a:buClr>
                <a:srgbClr val="292929"/>
              </a:buClr>
              <a:buSzPts val="3600"/>
            </a:pPr>
            <a:r>
              <a:rPr lang="en-US" dirty="0">
                <a:latin typeface="Metropolis (Body)"/>
              </a:rPr>
              <a:t>Introduction</a:t>
            </a:r>
            <a:endParaRPr dirty="0">
              <a:latin typeface="Metropolis (Body)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41300" algn="just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2400" b="0" i="0" u="none" dirty="0">
              <a:solidFill>
                <a:schemeClr val="dk1"/>
              </a:solidFill>
              <a:latin typeface="Metropolis (Body)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B38B9B-42E6-2645-F654-6949982E9F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8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Question…….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029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560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MEDICAPS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SupportHub – AI-Powered Microservices Platform for Non-Profit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FF"/>
                </a:solidFill>
                <a:latin typeface="Calibri"/>
              </a:rPr>
              <a:t>A Project-II Report | Submitted in partial fulfillment of B.Tech (CSE)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10128"/>
            <a:ext cx="6400800" cy="36576"/>
          </a:xfrm>
          <a:prstGeom prst="rect">
            <a:avLst/>
          </a:prstGeom>
          <a:solidFill>
            <a:srgbClr val="AA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Anushka Kashyap  (EN22CS301180)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Ananya Subramanya Rao  (EN22CS301120)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Anirudh Vyas  (EN22CS301131)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Atharv Chaturvedi  (EN22CS301228)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Harshit Panchal  (EN23CS3L1010)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FF"/>
                </a:solidFill>
                <a:latin typeface="Calibri"/>
              </a:rPr>
              <a:t>Under the Guidance of: Dr. Debendra Kumar Panda | Industry: Mr. Manoj Kumar (Datagami)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EE"/>
                </a:solidFill>
                <a:latin typeface="Calibri"/>
              </a:rPr>
              <a:t>Dept. of Computer Science &amp; Engineering | Medicaps University, Indore | JAN-JUNE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www.medicaps.ac.in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48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48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Platform Overview — SupportHub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23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3230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QuizBot — GenAI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397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397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QuizBot — Architecture &amp;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47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472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TriageAgent — Agentic AI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54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547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TriageAgent — Multi-Agent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622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622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SupportHub — DevOps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697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697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CI/CD Pipeline &amp; 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772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7725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Terraform IaC &amp; Kubernetes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System Architecture &amp; Data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19248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19248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Technology Stack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4323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4323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Results &amp; Screenshots — QuizBot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93979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29397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Results &amp; Screenshots — TriageAgent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447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4472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Results &amp; Screenshots — DevOps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9547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9547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Performance Metrics &amp;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44622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4622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Conclusions &amp; Future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96976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49697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GitHub Links &amp; References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4772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1722"/>
                </a:solidFill>
                <a:latin typeface="Calibr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547725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Q&amp;A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95C"/>
                </a:solidFill>
                <a:latin typeface="Calibri"/>
              </a:rPr>
              <a:t>The Challenge Facing Non-Profit Organizations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7863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• Communication Overload: Non-profits receive hundreds of donor emails, volunteer inquiries, and complaints daily — each requiring 15–20 min manual processing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• Knowledge Gaps: Staff lack structured, context-relevant training from their own real-world donor communications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• Infrastructure Barrier: Deploying AI tools requires manual cloud configuration — inaccessible to lean non-profit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295C"/>
                </a:solidFill>
                <a:latin typeface="Calibri"/>
              </a:rPr>
              <a:t>Our Integrated Solution — Three Systems, One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67328"/>
            <a:ext cx="2651760" cy="1463040"/>
          </a:xfrm>
          <a:prstGeom prst="rect">
            <a:avLst/>
          </a:prstGeom>
          <a:solidFill>
            <a:srgbClr val="E8F0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858768"/>
            <a:ext cx="2432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QuizBot
(GenAI)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51376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Transforms real donor emails into AI-powered MCQ quizzes. Closes knowledge gaps with personalized assessments.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767328"/>
            <a:ext cx="2651760" cy="1463040"/>
          </a:xfrm>
          <a:prstGeom prst="rect">
            <a:avLst/>
          </a:prstGeom>
          <a:solidFill>
            <a:srgbClr val="E8FFF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3858768"/>
            <a:ext cx="2432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TriageAgent
(Agentic 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4151376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4-agent AI pipeline processes incoming messages in 5–10 sec: classify → extract → draft → route.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67328"/>
            <a:ext cx="2651760" cy="1463040"/>
          </a:xfrm>
          <a:prstGeom prst="rect">
            <a:avLst/>
          </a:prstGeom>
          <a:solidFill>
            <a:srgbClr val="FFF0E8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858768"/>
            <a:ext cx="2432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SupportHub
(DevOps)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151376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Unifies both apps under Docker, GitHub Actions CI/CD, Terraform IaC, K3s Kubernetes on AWS EC2.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Platform Overview — SupportHub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4E9C"/>
                </a:solidFill>
                <a:latin typeface="Calibri"/>
              </a:rPr>
              <a:t>Five-Layer Architecture | Publicly Live at http://13.206.179.67:8080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solidFill>
            <a:srgbClr val="E8F0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22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Layer 1 — Client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9222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TriageAgent React 18 SPA + QuizBot React 19 SPA + SupportHub Portal | Vite, Tailwind CSS, Zustand, Framer Motion, Recharts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8229600" cy="777240"/>
          </a:xfrm>
          <a:prstGeom prst="rect">
            <a:avLst/>
          </a:prstGeom>
          <a:solidFill>
            <a:srgbClr val="E0F7FA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609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Layer 2 — 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66090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Nginx container (port 8080) — single entry point; path-based routing: / → portal | /triage/ → TriageAgent | /quiz/ → QuizBot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8229600" cy="77724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Layer 3 — 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52958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Two FastAPI Python 3.11 backends: TriageAgent (port 8000, 13 REST endpoints) | QuizBot (port 8001, RAG pipeline)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8229600" cy="77724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982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Layer 4 — AI / ML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39826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Google Gemini 2.5 Flash (LLM) | spaCy en_core_web_sm (NER) | Sentence Transformers all-MiniLM-L6-v2 (embeddings)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8229600" cy="777240"/>
          </a:xfrm>
          <a:prstGeom prst="rect">
            <a:avLst/>
          </a:prstGeom>
          <a:solidFill>
            <a:srgbClr val="FFF0E0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2669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Layer 5 —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26694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Firebase Firestore (TriageAgent) | Firebase Realtime DB (QuizBot) | SQLite + ChromaDB (QuizBot local)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QuizBot — AI-Powered Educational Assessment (GenAI)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Transforming donor emails into intelligent MCQ quizzes for non-profit staff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Core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023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RAG-Powered Quiz Generation using ChromaDB + Gemini 2.5 Flash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Contextual MCQ from real donor emails (3, 5, 7, or 10 Qs)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Per-question AI evaluation with detailed LLM explanations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AI-generated performance summary after every attempt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Personalized analytics dashboard (Recharts trend charts)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Dual-token auth: Firebase ID Token + backend HS256 JWT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Exponential backoff retry (up to 5 attempts) for reliability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50">
                <a:solidFill>
                  <a:srgbClr val="444444"/>
                </a:solidFill>
                <a:latin typeface="Calibri"/>
              </a:rPr>
              <a:t>• ChromaDB 30-day auto-purge for donor email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190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103120"/>
            <a:ext cx="1828800" cy="1097280"/>
          </a:xfrm>
          <a:prstGeom prst="rect">
            <a:avLst/>
          </a:prstGeom>
          <a:solidFill>
            <a:srgbClr val="E8F0FF"/>
          </a:solidFill>
          <a:ln w="9525">
            <a:solidFill>
              <a:srgbClr val="99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03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3–8 sec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Quiz Generation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103120"/>
            <a:ext cx="1828800" cy="1097280"/>
          </a:xfrm>
          <a:prstGeom prst="rect">
            <a:avLst/>
          </a:prstGeom>
          <a:solidFill>
            <a:srgbClr val="E8F0FF"/>
          </a:solidFill>
          <a:ln w="9525">
            <a:solidFill>
              <a:srgbClr val="99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103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2–4 sec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Per-Answer Evaluation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474720"/>
            <a:ext cx="1828800" cy="1097280"/>
          </a:xfrm>
          <a:prstGeom prst="rect">
            <a:avLst/>
          </a:prstGeom>
          <a:solidFill>
            <a:srgbClr val="E8F0FF"/>
          </a:solidFill>
          <a:ln w="9525">
            <a:solidFill>
              <a:srgbClr val="99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384-dim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Email Embeddings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3474720"/>
            <a:ext cx="1828800" cy="1097280"/>
          </a:xfrm>
          <a:prstGeom prst="rect">
            <a:avLst/>
          </a:prstGeom>
          <a:solidFill>
            <a:srgbClr val="E8F0FF"/>
          </a:solidFill>
          <a:ln w="9525">
            <a:solidFill>
              <a:srgbClr val="99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4747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5 retry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Gemini API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4E9C"/>
                </a:solidFill>
                <a:latin typeface="Calibri"/>
              </a:rPr>
              <a:t>Tech: React 19 + Vite | FastAPI | Gemini 2.5 Flash | ChromaDB | Sentence Transformers | Firebase | SQLite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QuizBot — RAG Pipeline &amp;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3-Tier Client-Server Architecture with RAG-Enhanced Quiz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1554480" cy="1417320"/>
          </a:xfrm>
          <a:prstGeom prst="rect">
            <a:avLst/>
          </a:prstGeom>
          <a:solidFill>
            <a:srgbClr val="E8F0FF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83080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1. 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03120"/>
            <a:ext cx="14081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Pastes donor email + selects Qs (3/5/7/10)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22402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84832" y="1691640"/>
            <a:ext cx="1554480" cy="1417320"/>
          </a:xfrm>
          <a:prstGeom prst="rect">
            <a:avLst/>
          </a:prstGeom>
          <a:solidFill>
            <a:srgbClr val="E0F7FA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7984" y="1783080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2. Embed &amp;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2103120"/>
            <a:ext cx="14081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all-MiniLM-L6-v2 → 384-dim vector → ChromaDB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2402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3904" y="1691640"/>
            <a:ext cx="1554480" cy="1417320"/>
          </a:xfrm>
          <a:prstGeom prst="rect">
            <a:avLst/>
          </a:prstGeom>
          <a:solidFill>
            <a:srgbClr val="F3E5F5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77056" y="1783080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3. RAG 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6" y="2103120"/>
            <a:ext cx="14081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Cosine similarity search on ChromaDB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2402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1691640"/>
            <a:ext cx="1554480" cy="1417320"/>
          </a:xfrm>
          <a:prstGeom prst="rect">
            <a:avLst/>
          </a:prstGeom>
          <a:solidFill>
            <a:srgbClr val="E8F5E9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96128" y="1783080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4. Gemini 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103120"/>
            <a:ext cx="14081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Structured prompt → MCQ JSON (Gemini 2.5 Flash)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224028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1691640"/>
            <a:ext cx="1554480" cy="1417320"/>
          </a:xfrm>
          <a:prstGeom prst="rect">
            <a:avLst/>
          </a:prstGeom>
          <a:solidFill>
            <a:srgbClr val="FFF0E0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1783080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5. Evaluate &amp; 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103120"/>
            <a:ext cx="14081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Per-answer LLM eval → SQLite + Firebase RTDB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1012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Data Storage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703320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794760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SQLite + SQLAlchemy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087368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Users, Quiz sessions, Questions, Results — local structured data with 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3703320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1768" y="3794760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Firebase Realtime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4087368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quiz_history/{uid}/{quiz_id} — cloud-synced quiz history &amp; progress analytics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27448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818888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ChromaDB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5111496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384-dim donor email embeddings — cosine similarity retrieval for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4727448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1768" y="4818888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Firebase Auth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5111496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Email/password registration + ID token → backend HS256 JWT issuance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TriageAgent — AI-Powered Communication Triage (Agentic AI)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Smart AI receptionist: 15–20 min manual triage → 5–10 seconds automated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19072"/>
            <a:ext cx="192024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88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5–10 sec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Full Pipeline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719072"/>
            <a:ext cx="192024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88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719072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90–95%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Classification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719072"/>
            <a:ext cx="192024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88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19072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&lt; 50 ms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spaCy NER Offline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719072"/>
            <a:ext cx="1920240" cy="914400"/>
          </a:xfrm>
          <a:prstGeom prst="rect">
            <a:avLst/>
          </a:prstGeom>
          <a:solidFill>
            <a:srgbClr val="E8F0FF"/>
          </a:solidFill>
          <a:ln w="9525">
            <a:solidFill>
              <a:srgbClr val="88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719072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BF1722"/>
                </a:solidFill>
                <a:latin typeface="Calibri"/>
              </a:rPr>
              <a:t>&lt; 1 ms</a:t>
            </a:r>
          </a:p>
          <a:p>
            <a:pPr algn="ctr"/>
            <a:r>
              <a:rPr sz="1100">
                <a:solidFill>
                  <a:srgbClr val="444444"/>
                </a:solidFill>
                <a:latin typeface="Calibri"/>
              </a:rPr>
              <a:t>RouterAgent (Dict Lookup)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6148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Four Specialized AI Agents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2103120" cy="2331720"/>
          </a:xfrm>
          <a:prstGeom prst="rect">
            <a:avLst/>
          </a:prstGeom>
          <a:solidFill>
            <a:srgbClr val="FFEBEE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246120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1. ClassifierAgent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538728"/>
            <a:ext cx="18836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Gemini 2.5 Flash (temp=0.3, JSON mode)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Urgency: Critical/High/Normal/Low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Intent: Donation/Volunteer/Complaint/etc.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Confidence score 0.0–1.0 + reasoning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42032" y="3154680"/>
            <a:ext cx="2103120" cy="2331720"/>
          </a:xfrm>
          <a:prstGeom prst="rect">
            <a:avLst/>
          </a:prstGeom>
          <a:solidFill>
            <a:srgbClr val="E8F5E9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3246120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2. NERAgent (Hybrid)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538728"/>
            <a:ext cx="18836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Pass 1: spaCy offline (&lt;50ms) → persons, orgs, dates, amounts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Pass 2: Gemini → receipt IDs, donation IDs, case numbers, emails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Merge + deduplicate with Python 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18304" y="3154680"/>
            <a:ext cx="2103120" cy="2331720"/>
          </a:xfrm>
          <a:prstGeom prst="rect">
            <a:avLst/>
          </a:prstGeom>
          <a:solidFill>
            <a:srgbClr val="E3F2FD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246120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3. ResponseAgent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3538728"/>
            <a:ext cx="18836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Gemini 2.5 Flash (temp=0.7, max_tokens=2000)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Tone calibrated to urgency level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150–300 word draft with Subject + full body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94576" y="3154680"/>
            <a:ext cx="2103120" cy="2331720"/>
          </a:xfrm>
          <a:prstGeom prst="rect">
            <a:avLst/>
          </a:prstGeom>
          <a:solidFill>
            <a:srgbClr val="F3E5F5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4304" y="3246120"/>
            <a:ext cx="1883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4. RouterAgent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4304" y="3538728"/>
            <a:ext cx="18836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Pure dictionary lookup — 0 LLM calls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INTENT → DepartmentType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URGENCY → Priority int (1=Critical, 4=Low)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TriageAgent — Multi-Agent Pipeline &amp; Human-in-the-Loop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Six-Step Pipeline: Auth → Orchestrate → Classify → NER → Draft → Route → Firestore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1325880" cy="1234440"/>
          </a:xfrm>
          <a:prstGeom prst="rect">
            <a:avLst/>
          </a:prstGeom>
          <a:solidFill>
            <a:srgbClr val="E8F0FF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810512"/>
            <a:ext cx="1179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Auth &amp;
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49424"/>
            <a:ext cx="1179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JWT verify + Pydantic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1719072"/>
            <a:ext cx="1325880" cy="1234440"/>
          </a:xfrm>
          <a:prstGeom prst="rect">
            <a:avLst/>
          </a:prstGeom>
          <a:solidFill>
            <a:srgbClr val="F3E5F5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2" y="1810512"/>
            <a:ext cx="1179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Orchestrator
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2249424"/>
            <a:ext cx="1179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TRG-{ts}-{uuid8}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176272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719072"/>
            <a:ext cx="1325880" cy="1234440"/>
          </a:xfrm>
          <a:prstGeom prst="rect">
            <a:avLst/>
          </a:prstGeom>
          <a:solidFill>
            <a:srgbClr val="FFEBEE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1810512"/>
            <a:ext cx="1179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Classifier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2249424"/>
            <a:ext cx="1179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Gemini JSON
temp=0.3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176272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719072"/>
            <a:ext cx="1325880" cy="1234440"/>
          </a:xfrm>
          <a:prstGeom prst="rect">
            <a:avLst/>
          </a:prstGeom>
          <a:solidFill>
            <a:srgbClr val="E8F5E9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1810512"/>
            <a:ext cx="1179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NER
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249424"/>
            <a:ext cx="1179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spaCy + Gemini
hybrid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176272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719072"/>
            <a:ext cx="1325880" cy="1234440"/>
          </a:xfrm>
          <a:prstGeom prst="rect">
            <a:avLst/>
          </a:prstGeom>
          <a:solidFill>
            <a:srgbClr val="E3F2FD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1810512"/>
            <a:ext cx="1179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Response
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2249424"/>
            <a:ext cx="1179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Gemini temp=0.7
150–300 words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176272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1719072"/>
            <a:ext cx="1325880" cy="1234440"/>
          </a:xfrm>
          <a:prstGeom prst="rect">
            <a:avLst/>
          </a:prstGeom>
          <a:solidFill>
            <a:srgbClr val="FFF0E0"/>
          </a:solidFill>
          <a:ln w="9525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08392" y="1810512"/>
            <a:ext cx="11795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Router +
Firestore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8392" y="2249424"/>
            <a:ext cx="11795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Calibri"/>
              </a:rPr>
              <a:t>Dict lookup
→ Firestore save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090672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Human-in-the-Loop Review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93008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584448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Status Lifecycle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877056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Pending Review → Approved/Rejected → Sent → Archived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3493008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1768" y="3584448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3-Tab Interface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1768" y="3877056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Overview (classification + routing) | Entities (color-coded pill badges) | Draft Response (subject + full email body)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498848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590288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Approval 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882896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Staff click Approve/Reject → POST /api/triage/{id}/feedback → Firestore status updated → response marked ready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4498848"/>
            <a:ext cx="4114800" cy="914400"/>
          </a:xfrm>
          <a:prstGeom prst="rect">
            <a:avLst/>
          </a:prstGeom>
          <a:solidFill>
            <a:srgbClr val="F5F7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01768" y="4590288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Design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01768" y="4882896"/>
            <a:ext cx="38953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No AI-generated response ever reaches a stakeholder without explicit human approval — AI augments, never replaces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SupportHub — DevOps Infrastructure (DO-15)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Complete DevOps lifecycle: Docker → GitHub Actions CI/CD → Terraform IaC → K3s Kubernetes → AWS EC2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Five Docker Containers on supporthub-network (bridge)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1664208" cy="2103120"/>
          </a:xfrm>
          <a:prstGeom prst="rect">
            <a:avLst/>
          </a:prstGeom>
          <a:solidFill>
            <a:srgbClr val="E8F0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1945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supporthub-nginx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487168"/>
            <a:ext cx="144475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nginx:alpine | Port 8080 (external only)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API gateway — 3 location blocks: /, /triage/, /quiz/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~25 MB image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103120"/>
            <a:ext cx="1664208" cy="2103120"/>
          </a:xfrm>
          <a:prstGeom prst="rect">
            <a:avLst/>
          </a:prstGeom>
          <a:solidFill>
            <a:srgbClr val="FFEBEE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7128" y="21945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triage-backend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2487168"/>
            <a:ext cx="144475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python:3.11-slim | Port 8000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FastAPI + LangChain + Gemini + spaCy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~320 MB image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103120"/>
            <a:ext cx="1664208" cy="2103120"/>
          </a:xfrm>
          <a:prstGeom prst="rect">
            <a:avLst/>
          </a:prstGeom>
          <a:solidFill>
            <a:srgbClr val="E8F5E9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4488" y="21945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triage-frontend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4488" y="2487168"/>
            <a:ext cx="144475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nginx:alpine | Port 3000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React 18 SPA compiled static assets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~26 MB (multi-stage build)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2103120"/>
            <a:ext cx="1664208" cy="2103120"/>
          </a:xfrm>
          <a:prstGeom prst="rect">
            <a:avLst/>
          </a:prstGeom>
          <a:solidFill>
            <a:srgbClr val="F3E5F5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1848" y="21945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quiz-backend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2487168"/>
            <a:ext cx="144475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python:3.11-slim | Port 8001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FastAPI + ChromaDB + Sentence-T + torch CPU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~653 MB image size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2103120"/>
            <a:ext cx="1664208" cy="2103120"/>
          </a:xfrm>
          <a:prstGeom prst="rect">
            <a:avLst/>
          </a:prstGeom>
          <a:solidFill>
            <a:srgbClr val="FFF0E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8" y="2194560"/>
            <a:ext cx="1444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295C"/>
                </a:solidFill>
                <a:latin typeface="Calibri"/>
              </a:rPr>
              <a:t>quiz-frontend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2487168"/>
            <a:ext cx="144475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nginx:alpine | Port 3001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React 19 SPA compiled static assets</a:t>
            </a:r>
          </a:p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~28 MB (multi-stage build)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AWS EC2 Production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36592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• Instance: t3.small (2 vCPU, 2 GB RAM) | Ubuntu 24.04 LTS | 20 GB gp2 EBS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• Region: ap-south-1 (Mumbai) — lowest latency from India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• Elastic IP: 13.206.179.67 (static — persists across instance restarts)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200">
                <a:solidFill>
                  <a:srgbClr val="444444"/>
                </a:solidFill>
                <a:latin typeface="Calibri"/>
              </a:rPr>
              <a:t>• Platform Live: http://13.206.179.67:8080  |  GitHub: github.com/anushkakashyap31/SupportHub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CI/CD Pipeline — GitHub Actions (3-Job Automated Workflow)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Every push to main → automated test → build → push → deploy. Run #7: ALL GREEN in 6m 47s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2697480" cy="3474720"/>
          </a:xfrm>
          <a:prstGeom prst="rect">
            <a:avLst/>
          </a:prstGeom>
          <a:solidFill>
            <a:srgbClr val="E8F5E9"/>
          </a:solidFill>
          <a:ln w="9525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051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Job 1 — Run Tests
~1m 12s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Checkout repository (actions/checkout@v4)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Setup Python 3.11 (actions/setup-python@v5)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1071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Install both backend requirements.txt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044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python -m py_compile app/main.py → syntax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98264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Quality gate: no Python syntax errors deployed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719072"/>
            <a:ext cx="2697480" cy="3474720"/>
          </a:xfrm>
          <a:prstGeom prst="rect">
            <a:avLst/>
          </a:prstGeom>
          <a:solidFill>
            <a:srgbClr val="E3F2FD"/>
          </a:solidFill>
          <a:ln w="9525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81051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  <a:latin typeface="Calibri"/>
              </a:rPr>
              <a:t>Job 2 — Build &amp; Push
~5m 28s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423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docker/login-action@v3 (DOCKERHUB_TOKEN secret)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1693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docker/setup-buildx-action@v3 for multi-platform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41071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docker/build-push-action@v5 × 5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9044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Each with correct build context + Dockerfile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398264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Tagged :latest → pushed to Docker 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719072"/>
            <a:ext cx="2697480" cy="3474720"/>
          </a:xfrm>
          <a:prstGeom prst="rect">
            <a:avLst/>
          </a:prstGeom>
          <a:solidFill>
            <a:srgbClr val="F3E5F5"/>
          </a:solidFill>
          <a:ln w="9525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810512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  <a:latin typeface="Calibri"/>
              </a:rPr>
              <a:t>Job 3 — Deploy
~7s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4231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docker compose config — validate 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916936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SSH to EC2 (production)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1071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docker compose pull — fetch latest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90448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docker compose up -d — rolling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98264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• Zero-downtime container replacement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766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4E9C"/>
                </a:solidFill>
                <a:latin typeface="Calibri"/>
              </a:rPr>
              <a:t>Docker Hub: hub.docker.com/u/anushkakashyap31 | GitHub Secrets: DOCKERHUB_USERNAME, DOCKERHUB_TOKEN — never hardcoded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Terraform IaC &amp; K3s Kubernetes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terraform apply → 9 AWS resources in &lt;5 min | kubectl apply -f k8s/ → 10 manifests deployed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Terraform IaC (9 AWS Resources)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aws_vpc — 10.0.0.0/16, DNS hostnames enabled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aws_internet_gateway — outbound internet access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aws_subnet — 10.0.1.0/24, ap-south-1a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aws_route_table — 0.0.0.0/0 → IGW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aws_security_group — ports 22,80,8080,30080,8000,8001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aws_key_pair — RSA 4096-bit SSH key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aws_instance — t3.small, Ubuntu 24.04, user_data auto-installs Docker+K3s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aws_eip — static IP 13.206.179.67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aws_route_table_association — subnet ↔ route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19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K3s Kubernetes (10 Manifests)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21408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5 × Deployment manifests (one per service)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444444"/>
                </a:solidFill>
                <a:latin typeface="Calibri"/>
              </a:rPr>
              <a:t>  • Liveness probes: GET /health every 10s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444444"/>
                </a:solidFill>
                <a:latin typeface="Calibri"/>
              </a:rPr>
              <a:t>  • Resource limits: quiz-backend 512Mi RAM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444444"/>
                </a:solidFill>
                <a:latin typeface="Calibri"/>
              </a:rPr>
              <a:t>  • triage-backend: 256Mi RAM, 250m CPU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4 × ClusterIP Services — internal cluster DNS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1 × NodePort Service — Nginx at :30080 (external)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Live scaling: kubectl scale triage-backend --replicas=3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00">
                <a:solidFill>
                  <a:srgbClr val="444444"/>
                </a:solidFill>
                <a:latin typeface="Calibri"/>
              </a:rPr>
              <a:t>  • → 3 pods Running in &lt; 15 seconds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Self-healing: deleted pod auto-recreated in 10–30s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F1722"/>
                </a:solidFill>
                <a:latin typeface="Calibri"/>
              </a:rPr>
              <a:t>⚠ Constraint: Docker Compose and K3s cannot run simultaneously on t3.small (2 GB RAM) — combined ~3.5 GB requirement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System Architecture &amp; Microservices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All containers on supporthub-network Docker bridge | Single external entry point: port 8080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19072"/>
            <a:ext cx="1280160" cy="640080"/>
          </a:xfrm>
          <a:prstGeom prst="rect">
            <a:avLst/>
          </a:prstGeom>
          <a:solidFill>
            <a:srgbClr val="26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719072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Browser
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745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1722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572768"/>
            <a:ext cx="2011680" cy="9144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572768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Nginx API Gateway
Port 8080
/ | /triage/ | /quiz/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5C"/>
                </a:solidFill>
                <a:latin typeface="Calibri"/>
              </a:rPr>
              <a:t>↙ /triage/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78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5C"/>
                </a:solidFill>
                <a:latin typeface="Calibri"/>
              </a:rPr>
              <a:t>↓ 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5C"/>
                </a:solidFill>
                <a:latin typeface="Calibri"/>
              </a:rPr>
              <a:t>↘ /quiz/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146304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089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triage-
frontend
:3000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108960"/>
            <a:ext cx="146304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31089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portal
index.html
Nginx FS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3108960"/>
            <a:ext cx="1463040" cy="8229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1089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quiz-
frontend
:3001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9776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5C"/>
                </a:solidFill>
                <a:latin typeface="Calibri"/>
              </a:rPr>
              <a:t>↓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9776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5C"/>
                </a:solidFill>
                <a:latin typeface="Calibri"/>
              </a:rPr>
              <a:t>↓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315968"/>
            <a:ext cx="1828800" cy="1188720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4315968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triage-backend
:8000
FastAPI + LangChain
+ spaCy + Gemini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4315968"/>
            <a:ext cx="1828800" cy="1188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4315968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quiz-backend
:8001
FastAPI + ChromaDB
+ Sentence-T + Gemini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1572768"/>
            <a:ext cx="2011680" cy="8686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157276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Google Gemini
2.5 Flash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2624328"/>
            <a:ext cx="2011680" cy="8686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262432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Firebase Auth
+ Firestore
+ RTDB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3675888"/>
            <a:ext cx="2011680" cy="86868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67588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Docker Hub
Registry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4727448"/>
            <a:ext cx="2011680" cy="8686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4727448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AWS EC2
ap-south-1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Integrated Technology Stack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Production-grade stack spanning GenAI, Agentic AI, and DevOps across all three integrated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19072"/>
            <a:ext cx="2148840" cy="4160520"/>
          </a:xfrm>
          <a:prstGeom prst="rect">
            <a:avLst/>
          </a:prstGeom>
          <a:solidFill>
            <a:srgbClr val="FFEBEE"/>
          </a:solidFill>
          <a:ln w="9525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5C"/>
                </a:solidFill>
                <a:latin typeface="Calibri"/>
              </a:rPr>
              <a:t>AI &amp;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94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Google Gemini 2.5 Flash (LLM)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163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LangChain 0.2.17 (Agent Framework)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83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spaCy 3.7.2 + en_core_web_sm (NER)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50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Sentence Transformers 2.2.2 (Embeddings)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1713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PyTorch 2.1.0+cpu (ML 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08406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ChromaDB 0.4.18 (Vector Store)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2888" y="1719072"/>
            <a:ext cx="2148840" cy="4160520"/>
          </a:xfrm>
          <a:prstGeom prst="rect">
            <a:avLst/>
          </a:prstGeom>
          <a:solidFill>
            <a:srgbClr val="E8F5E9"/>
          </a:solidFill>
          <a:ln w="9525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8" y="17922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5C"/>
                </a:solidFill>
                <a:latin typeface="Calibri"/>
              </a:rPr>
              <a:t>Backend &amp;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22494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FastAPI 0.109.0 + Uvicorn 0.27.0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28163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Python 3.11 (both backends)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3383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Pydantic V2 2.5.3 (validation)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950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SQLAlchemy + SQLite (QuizBot ORM)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451713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Firebase Admin SDK 6.3/7.2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508406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JWT python-jose HS256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5736" y="1719072"/>
            <a:ext cx="2148840" cy="4160520"/>
          </a:xfrm>
          <a:prstGeom prst="rect">
            <a:avLst/>
          </a:prstGeom>
          <a:solidFill>
            <a:srgbClr val="E3F2FD"/>
          </a:solidFill>
          <a:ln w="9525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7176" y="17922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5C"/>
                </a:solidFill>
                <a:latin typeface="Calibri"/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7176" y="22494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React 19 + Vite 7.3.1 (QuizBot)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7176" y="28163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React 18 + Vite 7 (TriageAgent)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3383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Zustand 5.0.11 (state management)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7176" y="3950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Tailwind CSS 3 (styling)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7176" y="451713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Framer Motion 12.38.0 (animations)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7176" y="508406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Recharts 3.7.0 (charts)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58584" y="1719072"/>
            <a:ext cx="2148840" cy="4160520"/>
          </a:xfrm>
          <a:prstGeom prst="rect">
            <a:avLst/>
          </a:prstGeom>
          <a:solidFill>
            <a:srgbClr val="F3E5F5"/>
          </a:solidFill>
          <a:ln w="9525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0024" y="17922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5C"/>
                </a:solidFill>
                <a:latin typeface="Calibri"/>
              </a:rPr>
              <a:t>DevOps &amp;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0024" y="22494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Docker 29.4.0 + Docker Compose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0024" y="281635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GitHub Actions (3-job CI/CD)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4" y="338328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Terraform 1.14.8 (IaC)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395020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K3s v1.34.6+k3s1 (Kubernetes)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0024" y="451713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Nginx nginx:alpine (API Gateway)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0024" y="508406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• AWS EC2 t3.small + Elastic IP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Results &amp; Screenshots — QuizBot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Fully functional AI-powered educational assessment platform — Live on AWS EC2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4114800" cy="1170432"/>
          </a:xfrm>
          <a:prstGeom prst="rect">
            <a:avLst/>
          </a:prstGeom>
          <a:solidFill>
            <a:srgbClr val="F0F4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810512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Landing Page &amp;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103120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Professional React 19 SPA with Firebase email/password auth, dual-token model (Firebase ID Token + HS256 JWT), responsive Tailwind CSS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719072"/>
            <a:ext cx="4114800" cy="1170432"/>
          </a:xfrm>
          <a:prstGeom prst="rect">
            <a:avLst/>
          </a:prstGeom>
          <a:solidFill>
            <a:srgbClr val="F0F4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1810512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Quiz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103120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Donor email pasted → RAG pipeline → Gemini 2.5 Flash generates 3–10 contextual MCQs in 3–8 seconds grounded in real email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80944"/>
            <a:ext cx="4114800" cy="1170432"/>
          </a:xfrm>
          <a:prstGeom prst="rect">
            <a:avLst/>
          </a:prstGeom>
          <a:solidFill>
            <a:srgbClr val="F0F4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072384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Quiz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364992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Per-question LLM evaluation: is_correct + detailed explanation contextually referencing the email; overall AI performance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980944"/>
            <a:ext cx="4114800" cy="1170432"/>
          </a:xfrm>
          <a:prstGeom prst="rect">
            <a:avLst/>
          </a:prstGeom>
          <a:solidFill>
            <a:srgbClr val="F0F4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072384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Dashboard &amp;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364992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Stats cards: Total Quizzes, Avg Score, Accuracy Rate; Recharts trend charts showing performance improvement over time; paginated quiz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42816"/>
            <a:ext cx="4114800" cy="1170432"/>
          </a:xfrm>
          <a:prstGeom prst="rect">
            <a:avLst/>
          </a:prstGeom>
          <a:solidFill>
            <a:srgbClr val="F0F4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334256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Backend Initialization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626864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FastAPI + Uvicorn startup: Gemini AI ✓ | Sentence Transformer ✓ | ChromaDB ✓ | SQLite init ✓ | Firebase Admin SDK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242816"/>
            <a:ext cx="4114800" cy="1170432"/>
          </a:xfrm>
          <a:prstGeom prst="rect">
            <a:avLst/>
          </a:prstGeom>
          <a:solidFill>
            <a:srgbClr val="F0F4FF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4334256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4E9C"/>
                </a:solidFill>
                <a:latin typeface="Calibri"/>
              </a:rPr>
              <a:t>API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4626864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FastAPI Swagger UI at :8001/docs — all quiz, auth, and analytics endpoints with live testing interface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Results &amp; Screenshots — TriageAgent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Production-grade multi-agent communication triage — Live on AWS EC2 at /triage/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4114800" cy="1170432"/>
          </a:xfrm>
          <a:prstGeom prst="rect">
            <a:avLst/>
          </a:prstGeom>
          <a:solidFill>
            <a:srgbClr val="F0F9F4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810512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Landing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103120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Animated hero section (Framer Motion), 6-card feature grid, performance stats: 30s avg, 95% accuracy, 10–20× faster than manual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719072"/>
            <a:ext cx="4114800" cy="1170432"/>
          </a:xfrm>
          <a:prstGeom prst="rect">
            <a:avLst/>
          </a:prstGeom>
          <a:solidFill>
            <a:srgbClr val="F0F9F4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1810512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Triage Input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103120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Clean message input (min 10 chars validation), optional sender fields, loading state button, 'How It Works' 5-step banner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80944"/>
            <a:ext cx="4114800" cy="1170432"/>
          </a:xfrm>
          <a:prstGeom prst="rect">
            <a:avLst/>
          </a:prstGeom>
          <a:solidFill>
            <a:srgbClr val="F0F9F4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072384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Result Tab 1 —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364992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Triage ID (TRG-prefix), urgency badge (red/orange/blue/green), intent badge, confidence %, AI reasoning, routing: dept + priority + assignee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980944"/>
            <a:ext cx="4114800" cy="1170432"/>
          </a:xfrm>
          <a:prstGeom prst="rect">
            <a:avLst/>
          </a:prstGeom>
          <a:solidFill>
            <a:srgbClr val="F0F9F4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072384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Result Tab 2 — Entities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364992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Color-coded pill badges by type: People (blue), Orgs (purple), Dates (green), Amounts (yellow), Emails (teal), Receipt IDs (red)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42816"/>
            <a:ext cx="4114800" cy="1170432"/>
          </a:xfrm>
          <a:prstGeom prst="rect">
            <a:avLst/>
          </a:prstGeom>
          <a:solidFill>
            <a:srgbClr val="F0F9F4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334256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Result Tab 3 — Draft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626864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AI-generated Subject + full email body 150–300 words, tone calibrated to urgency, Copy to Clipboard button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242816"/>
            <a:ext cx="4114800" cy="1170432"/>
          </a:xfrm>
          <a:prstGeom prst="rect">
            <a:avLst/>
          </a:prstGeom>
          <a:solidFill>
            <a:srgbClr val="F0F9F4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4334256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Dashboard &amp;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4626864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Filterable paginated message list, PieChart urgency distribution, BarChart intent breakdown, KPI cards (7/30/90-day filters)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Results &amp; Screenshots — SupportHub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Complete production-grade microservices platform — Live at http://13.206.179.67:8080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19072"/>
            <a:ext cx="4114800" cy="1170432"/>
          </a:xfrm>
          <a:prstGeom prst="rect">
            <a:avLst/>
          </a:prstGeom>
          <a:solidFill>
            <a:srgbClr val="FFF4F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810512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2300"/>
                </a:solidFill>
                <a:latin typeface="Calibri"/>
              </a:rPr>
              <a:t>SupportHub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103120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Landing page served at :8080 by Nginx from static HTML; service cards for both apps; architecture overview; loads &lt; 200ms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719072"/>
            <a:ext cx="4114800" cy="1170432"/>
          </a:xfrm>
          <a:prstGeom prst="rect">
            <a:avLst/>
          </a:prstGeom>
          <a:solidFill>
            <a:srgbClr val="FFF4F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1810512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2300"/>
                </a:solidFill>
                <a:latin typeface="Calibri"/>
              </a:rPr>
              <a:t>GitHub Actions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103120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Run #7: All 3 jobs GREEN in 6m 47s — Job 1 (1m 12s) | Job 2 (5m 28s) | Job 3 (7s); triggered on push to main branch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80944"/>
            <a:ext cx="4114800" cy="1170432"/>
          </a:xfrm>
          <a:prstGeom prst="rect">
            <a:avLst/>
          </a:prstGeom>
          <a:solidFill>
            <a:srgbClr val="FFF4F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072384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2300"/>
                </a:solidFill>
                <a:latin typeface="Calibri"/>
              </a:rPr>
              <a:t>Docker Hub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364992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5 images at hub.docker.com/u/anushkakashyap31 — all public, tagged :latest; frontend ~25-28 MB (multi-stage), quiz-backend ~653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980944"/>
            <a:ext cx="4114800" cy="1170432"/>
          </a:xfrm>
          <a:prstGeom prst="rect">
            <a:avLst/>
          </a:prstGeom>
          <a:solidFill>
            <a:srgbClr val="FFF4F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072384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2300"/>
                </a:solidFill>
                <a:latin typeface="Calibri"/>
              </a:rPr>
              <a:t>Docker Compose on AWS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364992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docker compose ps: all 5 containers Up + healthy — supporthub-nginx:8080, triage-backend:8000, quiz-backend:8001, frontends:3000/3001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42816"/>
            <a:ext cx="4114800" cy="1170432"/>
          </a:xfrm>
          <a:prstGeom prst="rect">
            <a:avLst/>
          </a:prstGeom>
          <a:solidFill>
            <a:srgbClr val="FFF4F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334256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2300"/>
                </a:solidFill>
                <a:latin typeface="Calibri"/>
              </a:rPr>
              <a:t>Terraform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626864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Plan: 9 to add, 0 to change, 0 to destroy — complete AWS environment provisioned from scratch in &lt; 5 minutes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242816"/>
            <a:ext cx="4114800" cy="1170432"/>
          </a:xfrm>
          <a:prstGeom prst="rect">
            <a:avLst/>
          </a:prstGeom>
          <a:solidFill>
            <a:srgbClr val="FFF4F0"/>
          </a:solidFill>
          <a:ln w="9525">
            <a:solidFill>
              <a:srgbClr val="CC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4334256"/>
            <a:ext cx="3895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B2300"/>
                </a:solidFill>
                <a:latin typeface="Calibri"/>
              </a:rPr>
              <a:t>Kubernetes (K3s)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4626864"/>
            <a:ext cx="3895344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50">
                <a:solidFill>
                  <a:srgbClr val="444444"/>
                </a:solidFill>
                <a:latin typeface="Calibri"/>
              </a:rPr>
              <a:t>kubectl get pods: all 5 pods Running; kubectl get nodes: EC2 Ready control-plane K3s v1.34.6+k3s1; platform at :30080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Performance Metrics &amp; Testing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All targets achieved and validated in live AWS EC2 deployment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19072"/>
            <a:ext cx="2560320" cy="457200"/>
          </a:xfrm>
          <a:prstGeom prst="rect">
            <a:avLst/>
          </a:prstGeom>
          <a:solidFill>
            <a:srgbClr val="1F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7922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719072"/>
            <a:ext cx="1463040" cy="457200"/>
          </a:xfrm>
          <a:prstGeom prst="rect">
            <a:avLst/>
          </a:prstGeom>
          <a:solidFill>
            <a:srgbClr val="1F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7922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19072"/>
            <a:ext cx="1463040" cy="457200"/>
          </a:xfrm>
          <a:prstGeom prst="rect">
            <a:avLst/>
          </a:prstGeom>
          <a:solidFill>
            <a:srgbClr val="1F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922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Achieved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719072"/>
            <a:ext cx="1645920" cy="457200"/>
          </a:xfrm>
          <a:prstGeom prst="rect">
            <a:avLst/>
          </a:prstGeom>
          <a:solidFill>
            <a:srgbClr val="1F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17922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76272"/>
            <a:ext cx="25603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2494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Message Triage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1762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22494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5–10 seconds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1762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2494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5–10 sec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176272"/>
            <a:ext cx="16459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62472" y="22494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TriageAgent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3347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7066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Quiz Generation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26334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7066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10 seconds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6334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27066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3–8 sec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63347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2472" y="27066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QuizBot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090672"/>
            <a:ext cx="25603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31638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Classification Accuracy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30906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4952" y="31638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90–95%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30906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31638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90–95%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3090672"/>
            <a:ext cx="16459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31638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ClassifierAgent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54787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6210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spaCy NER Speed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35478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44952" y="36210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50ms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35478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53712" y="36210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&lt; 50ms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354787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62472" y="36210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NERAgent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005072"/>
            <a:ext cx="25603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40782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RouterAgent Decision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40050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44952" y="40782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1ms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40050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53712" y="40782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&lt; 1ms (dict)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4005072"/>
            <a:ext cx="16459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62472" y="40782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RouterAgent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46227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" y="45354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CI/CD Pipeline Duration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71800" y="44622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44952" y="45354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7 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44622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53712" y="45354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6m 47s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446227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62472" y="45354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GitHub Actions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919472"/>
            <a:ext cx="25603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49926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Terraform Apply Time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71800" y="49194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49926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5 min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49194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53712" y="49926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&lt; 5 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4919472"/>
            <a:ext cx="16459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62472" y="49926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Terraform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37667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" y="54498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K3s Scaling Time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71800" y="53766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44952" y="54498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15 sec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80560" y="53766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53712" y="54498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&lt; 15 sec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89320" y="537667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62472" y="54498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Kubernetes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" y="5833872"/>
            <a:ext cx="25603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912" y="59070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Frontend Load Time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71800" y="58338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44952" y="59070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2 sec FCP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80560" y="5833872"/>
            <a:ext cx="146304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53712" y="59070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&lt; 200ms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89320" y="5833872"/>
            <a:ext cx="1645920" cy="457200"/>
          </a:xfrm>
          <a:prstGeom prst="rect">
            <a:avLst/>
          </a:prstGeom>
          <a:solidFill>
            <a:srgbClr val="F0F4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62472" y="59070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Nginx static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6291072"/>
            <a:ext cx="2560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8912" y="6364224"/>
            <a:ext cx="24140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API Response (non-AI)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971800" y="62910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044952" y="63642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&lt; 200ms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80560" y="6291072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53712" y="6364224"/>
            <a:ext cx="1316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5E20"/>
                </a:solidFill>
                <a:latin typeface="Calibri"/>
              </a:rPr>
              <a:t>✓ &lt; 200ms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989320" y="629107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62472" y="6364224"/>
            <a:ext cx="14996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Calibri"/>
              </a:rPr>
              <a:t>FastAPI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Conclusions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Key conclusions drawn from design, implementation, testing, and live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Key 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Three AI paradigms — GenAI, Agentic AI, DevOps — integrate coherently in one platform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Gemini 2.5 Flash: temp=0.3 for classification; temp=0.7 for creative response generation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RAG (ChromaDB + Gemini) outperforms generic quiz generation for domain-specific content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Multi-agent architectures improve reliability: each agent has independent fallback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Human-in-the-loop is essential for high-stakes AI in non-profit communication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Multi-stage Docker builds: 400MB → 25MB (94% size reduction) for frontend images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Terraform IaC makes 9-resource AWS provisioning reproducible in &lt; 5 minutes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K3s proves production-ready on resource-constrained t3.small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19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21408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QuizBot: Multi-document RAG, adaptive difficulty, React Native mobile app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TriageAgent: Gmail/WhatsApp/SMS direct integrations, WebSocket real-time notifications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TriageAgent: RBAC (Admin/Manager/Staff/Viewer), Sentiment Analysis Agent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SupportHub: HTTPS/SSL via ALB + ACM certificate + custom domain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SupportHub: Terraform S3 remote state with DynamoDB locking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SupportHub: Auto Scaling Group (ASG) behind Application Load Balancer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SupportHub: Kubernetes HPA based on CPU + Gemini API queue depth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>
                <a:solidFill>
                  <a:srgbClr val="444444"/>
                </a:solidFill>
                <a:latin typeface="Calibri"/>
              </a:rPr>
              <a:t>• SupportHub: ELK Stack centralized logging, multi-region deployment (ap-southeast-1)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64E9C"/>
                </a:solidFill>
                <a:latin typeface="Calibri"/>
              </a:rPr>
              <a:t>GitHub Repositories, Live URLs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6217920" cy="73152"/>
          </a:xfrm>
          <a:prstGeom prst="rect">
            <a:avLst/>
          </a:prstGeom>
          <a:solidFill>
            <a:srgbClr val="B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264E9C"/>
                </a:solidFill>
                <a:latin typeface="Calibri"/>
              </a:rPr>
              <a:t>www.medicaps.ac.in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57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64E9C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64E9C"/>
                </a:solidFill>
                <a:latin typeface="Calibri"/>
              </a:rPr>
              <a:t>All code, infrastructure, and documentation — publicly accessible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GitHub Repositories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8229600" cy="713232"/>
          </a:xfrm>
          <a:prstGeom prst="rect">
            <a:avLst/>
          </a:prstGeom>
          <a:solidFill>
            <a:srgbClr val="F0F4FF"/>
          </a:solidFill>
          <a:ln w="9525">
            <a:solidFill>
              <a:srgbClr val="BB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037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5C"/>
                </a:solidFill>
                <a:latin typeface="Calibri"/>
              </a:rPr>
              <a:t>SupportHub (DevOps)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2037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64E9C"/>
                </a:solidFill>
                <a:latin typeface="Calibri"/>
              </a:rPr>
              <a:t>github.com/anushkakashyap31/SupportHub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20370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Docker Compose, Terraform, K8s manifests, CI/CD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53512"/>
            <a:ext cx="8229600" cy="713232"/>
          </a:xfrm>
          <a:prstGeom prst="rect">
            <a:avLst/>
          </a:prstGeom>
          <a:solidFill>
            <a:srgbClr val="F0F4FF"/>
          </a:solidFill>
          <a:ln w="9525">
            <a:solidFill>
              <a:srgbClr val="BB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083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5C"/>
                </a:solidFill>
                <a:latin typeface="Calibri"/>
              </a:rPr>
              <a:t>TriageAgent (AgenticAI)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00837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64E9C"/>
                </a:solidFill>
                <a:latin typeface="Calibri"/>
              </a:rPr>
              <a:t>github.com/anushkakashyap31/TriageAgent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0083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Multi-agent FastAPI backend + React 18 frontend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58184"/>
            <a:ext cx="8229600" cy="713232"/>
          </a:xfrm>
          <a:prstGeom prst="rect">
            <a:avLst/>
          </a:prstGeom>
          <a:solidFill>
            <a:srgbClr val="F0F4FF"/>
          </a:solidFill>
          <a:ln w="9525">
            <a:solidFill>
              <a:srgbClr val="BB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13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5C"/>
                </a:solidFill>
                <a:latin typeface="Calibri"/>
              </a:rPr>
              <a:t>QuizBot (GenAI)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8130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64E9C"/>
                </a:solidFill>
                <a:latin typeface="Calibri"/>
              </a:rPr>
              <a:t>github.com/anushkakashyap31/QuizBot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8130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RAG pipeline backend + React 19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295C"/>
                </a:solidFill>
                <a:latin typeface="Calibri"/>
              </a:rPr>
              <a:t>Live Platform URLs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SupportHub Portal: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4E9C"/>
                </a:solidFill>
                <a:latin typeface="Calibri"/>
              </a:rPr>
              <a:t>http://13.206.179.67:8080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983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TriageAgent App: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4E9C"/>
                </a:solidFill>
                <a:latin typeface="Calibri"/>
              </a:rPr>
              <a:t>http://13.206.179.67:8080/triage/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589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QuizBot App: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458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4E9C"/>
                </a:solidFill>
                <a:latin typeface="Calibri"/>
              </a:rPr>
              <a:t>http://13.206.179.67:8080/quiz/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54589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Docker Hub: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58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4E9C"/>
                </a:solidFill>
                <a:latin typeface="Calibri"/>
              </a:rPr>
              <a:t>hub.docker.com/u/anushkakashyap31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344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TriageAgent API Docs: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9344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4E9C"/>
                </a:solidFill>
                <a:latin typeface="Calibri"/>
              </a:rPr>
              <a:t>http://13.206.179.67:8000/docs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9344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5C"/>
                </a:solidFill>
                <a:latin typeface="Calibri"/>
              </a:rPr>
              <a:t>QuizBot API Docs: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344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4E9C"/>
                </a:solidFill>
                <a:latin typeface="Calibri"/>
              </a:rPr>
              <a:t>http://13.206.179.67:8001/docs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697480"/>
            <a:ext cx="4572000" cy="45720"/>
          </a:xfrm>
          <a:prstGeom prst="rect">
            <a:avLst/>
          </a:prstGeom>
          <a:solidFill>
            <a:srgbClr val="AA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5292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CCCFF"/>
                </a:solidFill>
                <a:latin typeface="Calibri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BBEE"/>
                </a:solidFill>
                <a:latin typeface="Calibri"/>
              </a:rPr>
              <a:t>SupportHub – AI-Powered Microservices Platform for Non-Profit Support System
Anushka Kashyap | Ananya Subramanya Rao | Anirudh Vyas | Atharv Chaturvedi | Harshit Panchal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98848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🔗 github.com/anushkakashyap31/SupportHub
🌐 http://13.206.179.67:8080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2180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CC"/>
                </a:solidFill>
                <a:latin typeface="Calibri"/>
              </a:rPr>
              <a:t>DO-15 | Group 03D2 | Datagami × Medicaps University | JAN-JUNE 2026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6309360"/>
            <a:ext cx="4114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FFFFFF"/>
                </a:solidFill>
                <a:latin typeface="Calibri"/>
              </a:rPr>
              <a:t>www.medicaps.ac.in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5">
      <a:dk1>
        <a:srgbClr val="000000"/>
      </a:dk1>
      <a:lt1>
        <a:srgbClr val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Metropolis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98</Words>
  <Application>Microsoft Office PowerPoint</Application>
  <PresentationFormat>On-screen Show (4:3)</PresentationFormat>
  <Paragraphs>39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Metropolis (Body)</vt:lpstr>
      <vt:lpstr>Times New Roman</vt:lpstr>
      <vt:lpstr>Zilla Slab</vt:lpstr>
      <vt:lpstr>1_Office Theme</vt:lpstr>
      <vt:lpstr>PowerPoint Presentation</vt:lpstr>
      <vt:lpstr>Table of Content</vt:lpstr>
      <vt:lpstr>Introduction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SECURITY (OE00056)</dc:title>
  <dc:creator>dell</dc:creator>
  <cp:lastModifiedBy>Ranjeet osari</cp:lastModifiedBy>
  <cp:revision>11</cp:revision>
  <dcterms:created xsi:type="dcterms:W3CDTF">2025-07-18T09:14:58Z</dcterms:created>
  <dcterms:modified xsi:type="dcterms:W3CDTF">2026-04-09T11:05:39Z</dcterms:modified>
</cp:coreProperties>
</file>